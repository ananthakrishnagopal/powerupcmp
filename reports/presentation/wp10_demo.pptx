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33"/>
    <p:restoredTop autoAdjust="0" sz="94711"/>
  </p:normalViewPr>
  <p:slideViewPr>
    <p:cSldViewPr snapToGrid="0" snapToObjects="1">
      <p:cViewPr varScale="1">
        <p:scale>
          <a:sx d="100" n="84"/>
          <a:sy d="100" n="84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Predictive</a:t>
            </a:r>
            <a:r>
              <a:rPr/>
              <a:t> </a:t>
            </a:r>
            <a:r>
              <a:rPr/>
              <a:t>Supervisory</a:t>
            </a:r>
            <a:r>
              <a:rPr/>
              <a:t> </a:t>
            </a:r>
            <a:r>
              <a:rPr/>
              <a:t>Control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Semiconductor</a:t>
            </a:r>
            <a:r>
              <a:rPr/>
              <a:t> </a:t>
            </a:r>
            <a:r>
              <a:rPr/>
              <a:t>CMP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r>
              <a:rPr/>
              <a:t>Interim</a:t>
            </a:r>
            <a:r>
              <a:rPr/>
              <a:t> </a:t>
            </a:r>
            <a:r>
              <a:rPr/>
              <a:t>scientific</a:t>
            </a:r>
            <a:r>
              <a:rPr/>
              <a:t> </a:t>
            </a:r>
            <a:r>
              <a:rPr/>
              <a:t>demonstration</a:t>
            </a:r>
            <a:r>
              <a:rPr/>
              <a:t> </a:t>
            </a:r>
            <a:r>
              <a:rPr/>
              <a:t>through</a:t>
            </a:r>
            <a:r>
              <a:rPr/>
              <a:t> </a:t>
            </a:r>
            <a:r>
              <a:rPr/>
              <a:t>WP10</a:t>
            </a:r>
            <a:br/>
            <a:br/>
            <a:r>
              <a:rPr/>
              <a:t>Semifab</a:t>
            </a:r>
            <a:r>
              <a:rPr/>
              <a:t> </a:t>
            </a:r>
            <a:r>
              <a:rPr/>
              <a:t>CMP</a:t>
            </a:r>
            <a:r>
              <a:rPr/>
              <a:t> </a:t>
            </a:r>
            <a:r>
              <a:rPr/>
              <a:t>Predictive-Control</a:t>
            </a:r>
            <a:r>
              <a:rPr/>
              <a:t> </a:t>
            </a:r>
            <a:r>
              <a:rPr/>
              <a:t>PoC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12</a:t>
            </a:r>
            <a:r>
              <a:rPr/>
              <a:t> </a:t>
            </a:r>
            <a:r>
              <a:rPr/>
              <a:t>July</a:t>
            </a:r>
            <a:r>
              <a:rPr/>
              <a:t> </a:t>
            </a:r>
            <a:r>
              <a:rPr/>
              <a:t>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Status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1270000" indent="0">
              <a:buNone/>
            </a:pPr>
            <a:r>
              <a:rPr sz="2000" b="1"/>
              <a:t>Interim scope:</a:t>
            </a:r>
            <a:r>
              <a:rPr sz="2000"/>
              <a:t> validated synthetic plant, standalone CMP physics, and declared utility-to-CMP coupling through WP10.</a:t>
            </a:r>
          </a:p>
          <a:p>
            <a:pPr lvl="1"/>
            <a:r>
              <a:rPr/>
              <a:t>Predictive warning, root-cause classification, controller comparison, and independent safety filtering are </a:t>
            </a:r>
            <a:r>
              <a:rPr b="1"/>
              <a:t>not yet implemented</a:t>
            </a:r>
            <a:r>
              <a:rPr/>
              <a:t>.</a:t>
            </a:r>
          </a:p>
          <a:p>
            <a:pPr lvl="1"/>
            <a:r>
              <a:rPr/>
              <a:t>PHM 2016 integrity and preprocessing are audited, but public-data model performance is still pending.</a:t>
            </a:r>
          </a:p>
          <a:p>
            <a:pPr lvl="1"/>
            <a:r>
              <a:rPr/>
              <a:t>No physical-defect, yield, equipment-protection, real-fab, or production-control claim is made.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Research</a:t>
            </a:r>
            <a:r>
              <a:rPr/>
              <a:t> </a:t>
            </a:r>
            <a:r>
              <a:rPr/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Can a predictive supervisory layer detect an upcoming </a:t>
            </a:r>
            <a:r>
              <a:rPr b="1"/>
              <a:t>simulated average-MRR excursion</a:t>
            </a:r>
            <a:r>
              <a:rPr/>
              <a:t> caused by electrical and UPW disturbances, then reduce it relative to no intervention and fixed-threshold control without violating predefined simulation constraints?</a:t>
            </a:r>
          </a:p>
          <a:p>
            <a:pPr lvl="0" marL="0" indent="0">
              <a:buNone/>
            </a:pPr>
            <a:r>
              <a:rPr/>
              <a:t>Current evidence answers only the prerequisite question:</a:t>
            </a:r>
          </a:p>
          <a:p>
            <a:pPr lvl="0" marL="1270000" indent="0">
              <a:buNone/>
            </a:pPr>
            <a:r>
              <a:rPr sz="2000"/>
              <a:t>Can the simulator propagate a declared disturbance through a defensible, explicit topology while preserving structural negative controls?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Architecture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completion</a:t>
            </a:r>
            <a:r>
              <a:rPr/>
              <a:t> </a:t>
            </a:r>
            <a:r>
              <a:rPr/>
              <a:t>boundary</a:t>
            </a:r>
          </a:p>
        </p:txBody>
      </p:sp>
      <p:pic>
        <p:nvPicPr>
          <p:cNvPr descr="../reports/figures/system_architecture_wp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60600"/>
            <a:ext cx="8229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Solid</a:t>
            </a:r>
            <a:r>
              <a:rPr/>
              <a:t> </a:t>
            </a:r>
            <a:r>
              <a:rPr/>
              <a:t>path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validated</a:t>
            </a:r>
            <a:r>
              <a:rPr/>
              <a:t> </a:t>
            </a:r>
            <a:r>
              <a:rPr/>
              <a:t>synthetically</a:t>
            </a:r>
            <a:r>
              <a:rPr/>
              <a:t> </a:t>
            </a:r>
            <a:r>
              <a:rPr/>
              <a:t>through</a:t>
            </a:r>
            <a:r>
              <a:rPr/>
              <a:t> </a:t>
            </a:r>
            <a:r>
              <a:rPr/>
              <a:t>WP10;</a:t>
            </a:r>
            <a:r>
              <a:rPr/>
              <a:t> </a:t>
            </a:r>
            <a:r>
              <a:rPr/>
              <a:t>dashed</a:t>
            </a:r>
            <a:r>
              <a:rPr/>
              <a:t> </a:t>
            </a:r>
            <a:r>
              <a:rPr/>
              <a:t>supervisory</a:t>
            </a:r>
            <a:r>
              <a:rPr/>
              <a:t> </a:t>
            </a:r>
            <a:r>
              <a:rPr/>
              <a:t>path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pending.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Two</a:t>
            </a:r>
            <a:r>
              <a:rPr/>
              <a:t> </a:t>
            </a:r>
            <a:r>
              <a:rPr/>
              <a:t>evidence</a:t>
            </a:r>
            <a:r>
              <a:rPr/>
              <a:t> </a:t>
            </a:r>
            <a:r>
              <a:rPr/>
              <a:t>planes</a:t>
            </a:r>
            <a:r>
              <a:rPr/>
              <a:t> </a:t>
            </a:r>
            <a:r>
              <a:rPr/>
              <a:t>remain</a:t>
            </a:r>
            <a:r>
              <a:rPr/>
              <a:t> </a:t>
            </a:r>
            <a:r>
              <a:rPr/>
              <a:t>separate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Public-data plane</a:t>
            </a:r>
          </a:p>
          <a:p>
            <a:pPr lvl="1"/>
            <a:r>
              <a:rPr/>
              <a:t>User-supplied PHM 2016 archive; exact checksums and schema audit</a:t>
            </a:r>
          </a:p>
          <a:p>
            <a:pPr lvl="1"/>
            <a:r>
              <a:rPr/>
              <a:t>1,981/424/424 train/test/validation wafer-stage records</a:t>
            </a:r>
          </a:p>
          <a:p>
            <a:pPr lvl="1"/>
            <a:r>
              <a:rPr/>
              <a:t>Native, source-undeclared target unit; no silent SI conversion</a:t>
            </a:r>
          </a:p>
          <a:p>
            <a:pPr lvl="1"/>
            <a:r>
              <a:rPr/>
              <a:t>Virtual-metrology fitting and held-out metrics pending</a:t>
            </a:r>
          </a:p>
          <a:p>
            <a:pPr lvl="0" marL="0" indent="0">
              <a:buNone/>
            </a:pPr>
            <a:r>
              <a:rPr b="1"/>
              <a:t>Synthetic simulator plane</a:t>
            </a:r>
          </a:p>
          <a:p>
            <a:pPr lvl="1"/>
            <a:r>
              <a:rPr/>
              <a:t>Canonical SI units and declared component equations</a:t>
            </a:r>
          </a:p>
          <a:p>
            <a:pPr lvl="1"/>
            <a:r>
              <a:rPr/>
              <a:t>Latent state separated from observed sensor state</a:t>
            </a:r>
          </a:p>
          <a:p>
            <a:pPr lvl="1"/>
            <a:r>
              <a:rPr/>
              <a:t>Simulator states support internal causal-chain testing only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WP08:</a:t>
            </a:r>
            <a:r>
              <a:rPr/>
              <a:t> </a:t>
            </a:r>
            <a:r>
              <a:rPr/>
              <a:t>reduced-order</a:t>
            </a:r>
            <a:r>
              <a:rPr/>
              <a:t> </a:t>
            </a:r>
            <a:r>
              <a:rPr/>
              <a:t>CMP</a:t>
            </a:r>
            <a:r>
              <a:rPr/>
              <a:t> </a:t>
            </a:r>
            <a:r>
              <a:rPr/>
              <a:t>physics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marL="0" indent="0">
                  <a:buNone/>
                </a:pPr>
                <a:r>
                  <a:rPr/>
                  <a:t>The normalized generalized-Preston model is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R</m:t>
                          </m:r>
                        </m:e>
                        <m:sub>
                          <m:r>
                            <m:t>e</m:t>
                          </m:r>
                          <m:r>
                            <m:t>q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χ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sSub>
                        <m:e>
                          <m:r>
                            <m:t>R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sSub>
                        <m:e>
                          <m:r>
                            <m:t>Φ</m:t>
                          </m:r>
                        </m:e>
                        <m:sub>
                          <m:r>
                            <m:t>P</m:t>
                          </m:r>
                          <m:r>
                            <m:t>V</m:t>
                          </m:r>
                        </m:sub>
                      </m:sSub>
                      <m:sSub>
                        <m:e>
                          <m:r>
                            <m:t>m</m:t>
                          </m:r>
                        </m:e>
                        <m:sub>
                          <m:r>
                            <m:t>s</m:t>
                          </m:r>
                        </m:sub>
                      </m:sSub>
                      <m:sSub>
                        <m:e>
                          <m:r>
                            <m:t>m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sSub>
                        <m:e>
                          <m:r>
                            <m:t>m</m:t>
                          </m:r>
                        </m:e>
                        <m:sub>
                          <m:r>
                            <m:t>p</m:t>
                          </m:r>
                          <m:r>
                            <m:t>a</m:t>
                          </m:r>
                          <m:r>
                            <m:t>d</m:t>
                          </m:r>
                        </m:sub>
                      </m:sSub>
                      <m:sSub>
                        <m:e>
                          <m:r>
                            <m:t>m</m:t>
                          </m:r>
                        </m:e>
                        <m:sub>
                          <m:r>
                            <m:t>r</m:t>
                          </m:r>
                          <m:r>
                            <m:t>e</m:t>
                          </m:r>
                          <m:r>
                            <m:t>c</m:t>
                          </m:r>
                          <m:r>
                            <m:t>i</m:t>
                          </m:r>
                          <m:r>
                            <m:t>p</m:t>
                          </m:r>
                          <m:r>
                            <m:t>e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with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Φ</m:t>
                          </m:r>
                        </m:e>
                        <m:sub>
                          <m:r>
                            <m:t>P</m:t>
                          </m:r>
                          <m:r>
                            <m:t>V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A</m:t>
                          </m:r>
                        </m:den>
                      </m:f>
                      <m:nary>
                        <m:naryPr>
                          <m:chr m:val="∫"/>
                          <m:limLoc m:val="subSup"/>
                          <m:subHide m:val="0"/>
                          <m:supHide m:val="1"/>
                        </m:naryPr>
                        <m:sub>
                          <m:r>
                            <m:t>A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endChr m:val=")"/>
                                  <m:grow/>
                                </m:dPr>
                                <m:e>
                                  <m:f>
                                    <m:fPr>
                                      <m:type m:val="bar"/>
                                    </m:fPr>
                                    <m:num>
                                      <m:r>
                                        <m:t>P</m:t>
                                      </m:r>
                                    </m:num>
                                    <m:den>
                                      <m:sSub>
                                        <m:e>
                                          <m:r>
                                            <m:t>P</m:t>
                                          </m:r>
                                        </m:e>
                                        <m:sub>
                                          <m:r>
                                            <m:t>0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m:t>α</m:t>
                              </m:r>
                            </m:sup>
                          </m:sSup>
                        </m:e>
                      </m:nary>
                      <m:sSup>
                        <m:e>
                          <m:d>
                            <m:dPr>
                              <m:begChr m:val="(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sSub>
                                    <m:e>
                                      <m:r>
                                        <m:t>v</m:t>
                                      </m:r>
                                    </m:e>
                                    <m:sub>
                                      <m:r>
                                        <m:t>R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e>
                                      <m:r>
                                        <m:t>V</m:t>
                                      </m:r>
                                    </m:e>
                                    <m:sub>
                                      <m: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m:t>β</m:t>
                          </m:r>
                        </m:sup>
                      </m:sSup>
                      <m:r>
                        <m:t>d</m:t>
                      </m:r>
                      <m:r>
                        <m:t>A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1"/>
                <a:r>
                  <a:rPr/>
                  <a:t>Explicit PREPARE, POLISH, DRESS, HOLD, RECOVER, COMPLETE modes</a:t>
                </a:r>
              </a:p>
              <a:p>
                <a:pPr lvl="1"/>
                <a:r>
                  <a:rPr/>
                  <a:t>Dynamic pressure, signed spindles, slurry, pad, dresser, and temperature</a:t>
                </a:r>
              </a:p>
              <a:p>
                <a:pPr lvl="1"/>
                <a:r>
                  <a:rPr/>
                  <a:t>Cumulative removal and active-polish time prevent hold-based metric gaming</a:t>
                </a:r>
              </a:p>
              <a:p>
                <a:pPr lvl="1"/>
                <a:r>
                  <a:rPr/>
                  <a:t>Nominal synthetic reference: 100 nm/min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WP08</a:t>
            </a:r>
            <a:r>
              <a:rPr/>
              <a:t> </a:t>
            </a:r>
            <a:r>
              <a:rPr/>
              <a:t>deterministic</a:t>
            </a:r>
            <a:r>
              <a:rPr/>
              <a:t> </a:t>
            </a:r>
            <a:r>
              <a:rPr/>
              <a:t>reference</a:t>
            </a:r>
          </a:p>
        </p:txBody>
      </p:sp>
      <p:pic>
        <p:nvPicPr>
          <p:cNvPr descr="../reports/figures/wp08_reference_tra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51000" y="1600200"/>
            <a:ext cx="58293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Synthetic</a:t>
            </a:r>
            <a:r>
              <a:rPr/>
              <a:t> </a:t>
            </a:r>
            <a:r>
              <a:rPr/>
              <a:t>standalone</a:t>
            </a:r>
            <a:r>
              <a:rPr/>
              <a:t> </a:t>
            </a:r>
            <a:r>
              <a:rPr/>
              <a:t>CMP</a:t>
            </a:r>
            <a:r>
              <a:rPr/>
              <a:t> </a:t>
            </a:r>
            <a:r>
              <a:rPr/>
              <a:t>trace.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WP10:</a:t>
            </a:r>
            <a:r>
              <a:rPr/>
              <a:t> </a:t>
            </a:r>
            <a:r>
              <a:rPr/>
              <a:t>coupling</a:t>
            </a:r>
            <a:r>
              <a:rPr/>
              <a:t> </a:t>
            </a:r>
            <a:r>
              <a:rPr/>
              <a:t>without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hidden</a:t>
            </a:r>
            <a:r>
              <a:rPr/>
              <a:t> </a:t>
            </a:r>
            <a:r>
              <a:rPr/>
              <a:t>MRR</a:t>
            </a:r>
            <a:r>
              <a:rPr/>
              <a:t> </a:t>
            </a:r>
            <a:r>
              <a:rPr/>
              <a:t>gain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marL="0" indent="0">
                  <a:buNone/>
                </a:pPr>
                <a:r>
                  <a:rPr/>
                  <a:t>For normalized pressure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 and flow </a:t>
                </a:r>
                <a14:m>
                  <m:oMath xmlns:m="http://schemas.openxmlformats.org/officeDocument/2006/math">
                    <m:r>
                      <m:t>q</m:t>
                    </m:r>
                  </m:oMath>
                </a14:m>
                <a:r>
                  <a:rPr/>
                  <a:t>,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a</m:t>
                          </m:r>
                        </m:e>
                        <m:sub>
                          <m:r>
                            <m:t>h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min</m:t>
                      </m:r>
                      <m:r>
                        <m:rPr>
                          <m:sty m:val="p"/>
                        </m:rPr>
                        <m:t>{</m:t>
                      </m:r>
                      <m:r>
                        <m:t>R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;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R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q</m:t>
                      </m:r>
                      <m:r>
                        <m:rPr>
                          <m:sty m:val="p"/>
                        </m:rPr>
                        <m:t>;</m:t>
                      </m:r>
                      <m:sSub>
                        <m:e>
                          <m:r>
                            <m:t>q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q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}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sSub>
                        <m:e>
                          <m:r>
                            <m:t>a</m:t>
                          </m:r>
                        </m:e>
                        <m:sub>
                          <m:r>
                            <m:t>e</m:t>
                          </m:r>
                          <m:r>
                            <m:t>f</m:t>
                          </m:r>
                          <m:r>
                            <m:t>f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λ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t>a</m:t>
                          </m:r>
                        </m:e>
                        <m:sub>
                          <m:r>
                            <m:t>h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Topology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Boundary</a:t>
                      </a:r>
                      <a:r>
                        <a:rPr/>
                        <a:t> </a:t>
                      </a:r>
                      <a:r>
                        <a:rPr/>
                        <a:t>effect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NO_CONNECTION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Exact</a:t>
                      </a:r>
                      <a:r>
                        <a:rPr/>
                        <a:t> </a:t>
                      </a:r>
                      <a:r>
                        <a:rPr/>
                        <a:t>neutral</a:t>
                      </a:r>
                      <a:r>
                        <a:rPr/>
                        <a:t> </a:t>
                      </a:r>
                      <a:r>
                        <a:rPr/>
                        <a:t>default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DRESSING_WATER_SUPPORT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Changes</a:t>
                      </a:r>
                      <a:r>
                        <a:rPr/>
                        <a:t> </a:t>
                      </a:r>
                      <a:r>
                        <a:rPr/>
                        <a:t>conditioning</a:t>
                      </a:r>
                      <a:r>
                        <a:rPr/>
                        <a:t> </a:t>
                      </a:r>
                      <a:r>
                        <a:rPr/>
                        <a:t>during</a:t>
                      </a:r>
                      <a:r>
                        <a:rPr/>
                        <a:t> </a:t>
                      </a:r>
                      <a:r>
                        <a:rPr/>
                        <a:t>DRESS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THERMAL_LOOP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Changes</a:t>
                      </a:r>
                      <a:r>
                        <a:rPr/>
                        <a:t> </a:t>
                      </a:r>
                      <a:r>
                        <a:rPr/>
                        <a:t>coolant</a:t>
                      </a:r>
                      <a:r>
                        <a:rPr/>
                        <a:t> </a:t>
                      </a:r>
                      <a:r>
                        <a:rPr/>
                        <a:t>boundary/conductance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SYNTHETIC_SLURRY_SUPPORT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Explicit</a:t>
                      </a:r>
                      <a:r>
                        <a:rPr/>
                        <a:t> </a:t>
                      </a:r>
                      <a:r>
                        <a:rPr/>
                        <a:t>artificial</a:t>
                      </a:r>
                      <a:r>
                        <a:rPr/>
                        <a:t> </a:t>
                      </a:r>
                      <a:r>
                        <a:rPr/>
                        <a:t>structural</a:t>
                      </a:r>
                      <a:r>
                        <a:rPr/>
                        <a:t> </a:t>
                      </a:r>
                      <a:r>
                        <a:rPr/>
                        <a:t>case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Every numerical coupling coefficient is a </a:t>
            </a:r>
            <a:r>
              <a:rPr b="1"/>
              <a:t>synthetic assumption</a:t>
            </a:r>
            <a:r>
              <a:rPr/>
              <a:t>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Negative</a:t>
            </a:r>
            <a:r>
              <a:rPr/>
              <a:t> </a:t>
            </a:r>
            <a:r>
              <a:rPr/>
              <a:t>control:</a:t>
            </a:r>
            <a:r>
              <a:rPr/>
              <a:t> </a:t>
            </a:r>
            <a:r>
              <a:rPr/>
              <a:t>healthy</a:t>
            </a:r>
            <a:r>
              <a:rPr/>
              <a:t> </a:t>
            </a:r>
            <a:r>
              <a:rPr/>
              <a:t>UPS</a:t>
            </a:r>
            <a:r>
              <a:rPr/>
              <a:t> </a:t>
            </a:r>
            <a:r>
              <a:rPr/>
              <a:t>ride-through</a:t>
            </a:r>
          </a:p>
        </p:txBody>
      </p:sp>
      <p:pic>
        <p:nvPicPr>
          <p:cNvPr descr="../reports/figures/wp10_negative_contro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39800" y="1600200"/>
            <a:ext cx="72771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25%/400</a:t>
            </a:r>
            <a:r>
              <a:rPr/>
              <a:t> </a:t>
            </a:r>
            <a:r>
              <a:rPr/>
              <a:t>ms</a:t>
            </a:r>
            <a:r>
              <a:rPr/>
              <a:t> </a:t>
            </a:r>
            <a:r>
              <a:rPr/>
              <a:t>sag</a:t>
            </a:r>
            <a:r>
              <a:rPr/>
              <a:t> </a:t>
            </a:r>
            <a:r>
              <a:rPr/>
              <a:t>leaves</a:t>
            </a:r>
            <a:r>
              <a:rPr/>
              <a:t> </a:t>
            </a:r>
            <a:r>
              <a:rPr/>
              <a:t>tool</a:t>
            </a:r>
            <a:r>
              <a:rPr/>
              <a:t> </a:t>
            </a:r>
            <a:r>
              <a:rPr/>
              <a:t>flow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effective</a:t>
            </a:r>
            <a:r>
              <a:rPr/>
              <a:t> </a:t>
            </a:r>
            <a:r>
              <a:rPr/>
              <a:t>availability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one.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Minimum UPS output: 0.865536 pu</a:t>
            </a:r>
          </a:p>
          <a:p>
            <a:pPr lvl="1"/>
            <a:r>
              <a:rPr/>
              <a:t>Maximum pressure deviation: approximately 1.12 kPa</a:t>
            </a:r>
          </a:p>
          <a:p>
            <a:pPr lvl="1"/>
            <a:r>
              <a:rPr/>
              <a:t>Tool flow unchanged</a:t>
            </a:r>
          </a:p>
          <a:p>
            <a:pPr lvl="1"/>
            <a:r>
              <a:rPr/>
              <a:t>Connected and no-connection CMP traces exactly identical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Positive</a:t>
            </a:r>
            <a:r>
              <a:rPr/>
              <a:t> </a:t>
            </a:r>
            <a:r>
              <a:rPr/>
              <a:t>declared</a:t>
            </a:r>
            <a:r>
              <a:rPr/>
              <a:t> </a:t>
            </a:r>
            <a:r>
              <a:rPr/>
              <a:t>chain</a:t>
            </a:r>
          </a:p>
        </p:txBody>
      </p:sp>
      <p:pic>
        <p:nvPicPr>
          <p:cNvPr descr="../reports/figures/wp10_positive_chai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73300" y="1600200"/>
            <a:ext cx="45847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Synthetic</a:t>
            </a:r>
            <a:r>
              <a:rPr/>
              <a:t> </a:t>
            </a:r>
            <a:r>
              <a:rPr/>
              <a:t>degraded-UPS</a:t>
            </a:r>
            <a:r>
              <a:rPr/>
              <a:t> </a:t>
            </a:r>
            <a:r>
              <a:rPr/>
              <a:t>interruption</a:t>
            </a:r>
            <a:r>
              <a:rPr/>
              <a:t> </a:t>
            </a:r>
            <a:r>
              <a:rPr/>
              <a:t>during</a:t>
            </a:r>
            <a:r>
              <a:rPr/>
              <a:t> </a:t>
            </a:r>
            <a:r>
              <a:rPr/>
              <a:t>DRESS.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 positive case is a deliberately degraded 500 J UPS stress test—not a real UPS specification.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Delayed</a:t>
            </a:r>
            <a:r>
              <a:rPr/>
              <a:t> </a:t>
            </a:r>
            <a:r>
              <a:rPr/>
              <a:t>pad-memory</a:t>
            </a:r>
            <a:r>
              <a:rPr/>
              <a:t> </a:t>
            </a:r>
            <a:r>
              <a:rPr/>
              <a:t>result</a:t>
            </a:r>
          </a:p>
        </p:txBody>
      </p:sp>
      <p:pic>
        <p:nvPicPr>
          <p:cNvPr descr="../reports/figures/wp10_delayed_mrr_resul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28800"/>
            <a:ext cx="8229600" cy="355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MRR</a:t>
            </a:r>
            <a:r>
              <a:rPr/>
              <a:t> </a:t>
            </a:r>
            <a:r>
              <a:rPr/>
              <a:t>remains</a:t>
            </a:r>
            <a:r>
              <a:rPr/>
              <a:t> </a:t>
            </a:r>
            <a:r>
              <a:rPr/>
              <a:t>zero</a:t>
            </a:r>
            <a:r>
              <a:rPr/>
              <a:t> </a:t>
            </a:r>
            <a:r>
              <a:rPr/>
              <a:t>during</a:t>
            </a:r>
            <a:r>
              <a:rPr/>
              <a:t> </a:t>
            </a:r>
            <a:r>
              <a:rPr/>
              <a:t>DRESS;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later</a:t>
            </a:r>
            <a:r>
              <a:rPr/>
              <a:t> </a:t>
            </a:r>
            <a:r>
              <a:rPr/>
              <a:t>difference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mediated</a:t>
            </a:r>
            <a:r>
              <a:rPr/>
              <a:t> </a:t>
            </a:r>
            <a:r>
              <a:rPr/>
              <a:t>by</a:t>
            </a:r>
            <a:r>
              <a:rPr/>
              <a:t> </a:t>
            </a:r>
            <a:r>
              <a:rPr/>
              <a:t>stored</a:t>
            </a:r>
            <a:r>
              <a:rPr/>
              <a:t> </a:t>
            </a:r>
            <a:r>
              <a:rPr/>
              <a:t>pad</a:t>
            </a:r>
            <a:r>
              <a:rPr/>
              <a:t> </a:t>
            </a:r>
            <a:r>
              <a:rPr/>
              <a:t>state.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End-of-DRESS pad activity: </a:t>
            </a:r>
            <a:r>
              <a:rPr b="1"/>
              <a:t>5.36% lower</a:t>
            </a:r>
          </a:p>
          <a:p>
            <a:pPr lvl="1"/>
            <a:r>
              <a:rPr/>
              <a:t>Mean subsequent simulated MRR: </a:t>
            </a:r>
            <a:r>
              <a:rPr b="1"/>
              <a:t>3.19% lower</a:t>
            </a:r>
          </a:p>
          <a:p>
            <a:pPr lvl="1"/>
            <a:r>
              <a:rPr/>
              <a:t>No safe MRR envelope is frozen; this is not a controlled excursion or quality outcome.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Sensitivity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part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result</a:t>
            </a:r>
          </a:p>
        </p:txBody>
      </p:sp>
      <p:pic>
        <p:nvPicPr>
          <p:cNvPr descr="../reports/figures/wp10_global_sensitiv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25500" y="1600200"/>
            <a:ext cx="74930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Variance-based</a:t>
            </a:r>
            <a:r>
              <a:rPr/>
              <a:t> </a:t>
            </a:r>
            <a:r>
              <a:rPr/>
              <a:t>sensitivity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selected</a:t>
            </a:r>
            <a:r>
              <a:rPr/>
              <a:t> </a:t>
            </a:r>
            <a:r>
              <a:rPr/>
              <a:t>topology,</a:t>
            </a:r>
            <a:r>
              <a:rPr/>
              <a:t> </a:t>
            </a:r>
            <a:r>
              <a:rPr/>
              <a:t>state,</a:t>
            </a:r>
            <a:r>
              <a:rPr/>
              <a:t> </a:t>
            </a:r>
            <a:r>
              <a:rPr/>
              <a:t>output,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ranges.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Saltelli pick-freeze: 4,096 base samples; 36,864 seeded evaluations; zero link recovers no connection.</a:t>
            </a:r>
          </a:p>
          <a:p>
            <a:pPr lvl="1"/>
            <a:r>
              <a:rPr b="1"/>
              <a:t>Interpretation:</a:t>
            </a:r>
            <a:r>
              <a:rPr/>
              <a:t> the ranking is conditional—not empirical importance or causal proof.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Validation</a:t>
            </a:r>
            <a:r>
              <a:rPr/>
              <a:t> </a:t>
            </a:r>
            <a:r>
              <a:rPr/>
              <a:t>inventory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:r>
                  <a:rPr/>
                  <a:t>154/154 complete repository tests passed</a:t>
                </a:r>
              </a:p>
              <a:p>
                <a:pPr lvl="1"/>
                <a:r>
                  <a:rPr/>
                  <a:t>50/50 WP10-impacted tests passed</a:t>
                </a:r>
              </a:p>
              <a:p>
                <a:pPr lvl="1"/>
                <a:r>
                  <a:rPr/>
                  <a:t>Exact no-connection, zero-link, nominal-service, and default thermal-MRR nulls</a:t>
                </a:r>
              </a:p>
              <a:p>
                <a:pPr lvl="1"/>
                <a:r>
                  <a:rPr/>
                  <a:t>Pump-curve residual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&lt;</m:t>
                    </m:r>
                    <m:r>
                      <m:t>6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11</m:t>
                        </m:r>
                      </m:sup>
                    </m:sSup>
                  </m:oMath>
                </a14:m>
                <a:r>
                  <a:rPr/>
                  <a:t> Pa</a:t>
                </a:r>
              </a:p>
              <a:p>
                <a:pPr lvl="1"/>
                <a:r>
                  <a:rPr/>
                  <a:t>Hydraulic mass residual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&lt;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12</m:t>
                        </m:r>
                      </m:sup>
                    </m:sSup>
                  </m:oMath>
                </a14:m>
                <a:r>
                  <a:rPr/>
                  <a:t> m</a:t>
                </a:r>
                <a14:m>
                  <m:oMath xmlns:m="http://schemas.openxmlformats.org/officeDocument/2006/math">
                    <m:sSup>
                      <m:e>
                        <m:r>
                          <m:t>​</m:t>
                        </m:r>
                      </m:e>
                      <m:sup>
                        <m:r>
                          <m:t>3</m:t>
                        </m:r>
                      </m:sup>
                    </m:sSup>
                  </m:oMath>
                </a14:m>
                <a:r>
                  <a:rPr/>
                  <a:t>/s</a:t>
                </a:r>
              </a:p>
              <a:p>
                <a:pPr lvl="1"/>
                <a:r>
                  <a:rPr/>
                  <a:t>R3/R4/WP08 historical artifacts reproduced exactly</a:t>
                </a:r>
              </a:p>
              <a:p>
                <a:pPr lvl="1"/>
                <a:r>
                  <a:rPr/>
                  <a:t>Schema/interface: 2.4.0/3.2.0; </a:t>
                </a:r>
                <a:r>
                  <a:rPr>
                    <a:latin typeface="Courier"/>
                  </a:rPr>
                  <a:t>DynamicSubsystem</a:t>
                </a:r>
                <a:r>
                  <a:rPr/>
                  <a:t> remains 2.0.0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shown</a:t>
            </a:r>
            <a:r>
              <a:rPr/>
              <a:t> </a:t>
            </a:r>
            <a:r>
              <a:rPr/>
              <a:t>yet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PHM virtual-metrology baseline and hybrid-model results (WP09)</a:t>
            </a:r>
          </a:p>
          <a:p>
            <a:pPr lvl="1"/>
            <a:r>
              <a:rPr/>
              <a:t>Frozen MRR envelope, warning horizon, censoring, and uncertainty calibration (WP12)</a:t>
            </a:r>
          </a:p>
          <a:p>
            <a:pPr lvl="1"/>
            <a:r>
              <a:rPr/>
              <a:t>Root-cause attribution including </a:t>
            </a:r>
            <a:r>
              <a:rPr>
                <a:latin typeface="Courier"/>
              </a:rPr>
              <a:t>UNKNOWN</a:t>
            </a:r>
            <a:r>
              <a:rPr/>
              <a:t> and compounds (WP13)</a:t>
            </a:r>
          </a:p>
          <a:p>
            <a:pPr lvl="1"/>
            <a:r>
              <a:rPr/>
              <a:t>No-action and threshold baselines (WP14)</a:t>
            </a:r>
          </a:p>
          <a:p>
            <a:pPr lvl="1"/>
            <a:r>
              <a:rPr/>
              <a:t>Predictive bounded controller objective/actions (WP15)</a:t>
            </a:r>
          </a:p>
          <a:p>
            <a:pPr lvl="1"/>
            <a:r>
              <a:rPr/>
              <a:t>Independent safety filter and restart rules (WP16)</a:t>
            </a:r>
          </a:p>
          <a:p>
            <a:pPr lvl="1"/>
            <a:r>
              <a:rPr/>
              <a:t>Three-controller paired evaluation and final demonstration (WP17–WP18)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Phase</a:t>
            </a:r>
            <a:r>
              <a:rPr/>
              <a:t> </a:t>
            </a:r>
            <a:r>
              <a:rPr/>
              <a:t>3</a:t>
            </a:r>
            <a:r>
              <a:rPr/>
              <a:t> </a:t>
            </a:r>
            <a:r>
              <a:rPr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Freeze safe MRR envelope, persistence, horizon, feature cutoff, and uncertainty</a:t>
            </a:r>
          </a:p>
          <a:p>
            <a:pPr lvl="1">
              <a:buAutoNum type="arabicPeriod"/>
            </a:pPr>
            <a:r>
              <a:rPr/>
              <a:t>Complete PHM virtual metrology and synthetic early warning</a:t>
            </a:r>
          </a:p>
          <a:p>
            <a:pPr lvl="1">
              <a:buAutoNum type="arabicPeriod"/>
            </a:pPr>
            <a:r>
              <a:rPr/>
              <a:t>Freeze and evaluate attribution policy</a:t>
            </a:r>
          </a:p>
          <a:p>
            <a:pPr lvl="1">
              <a:buAutoNum type="arabicPeriod"/>
            </a:pPr>
            <a:r>
              <a:rPr/>
              <a:t>Freeze controller objective, action grid, and latency budget</a:t>
            </a:r>
          </a:p>
          <a:p>
            <a:pPr lvl="1">
              <a:buAutoNum type="arabicPeriod"/>
            </a:pPr>
            <a:r>
              <a:rPr/>
              <a:t>Freeze independent safety and restart constraints</a:t>
            </a:r>
          </a:p>
          <a:p>
            <a:pPr lvl="1">
              <a:buAutoNum type="arabicPeriod"/>
            </a:pPr>
            <a:r>
              <a:rPr/>
              <a:t>Close Phase 3 and switch to routine Phase 4 integration if stable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WP10 establishes a scientifically controlled simulation foundation:</a:t>
            </a:r>
          </a:p>
          <a:p>
            <a:pPr lvl="1"/>
            <a:r>
              <a:rPr/>
              <a:t>The utility-to-CMP connection is explicit and typed.</a:t>
            </a:r>
          </a:p>
          <a:p>
            <a:pPr lvl="1"/>
            <a:r>
              <a:rPr/>
              <a:t>Healthy ride-through remains a negative control.</a:t>
            </a:r>
          </a:p>
          <a:p>
            <a:pPr lvl="1"/>
            <a:r>
              <a:rPr/>
              <a:t>The positive effect is delayed through pad-state memory.</a:t>
            </a:r>
          </a:p>
          <a:p>
            <a:pPr lvl="1"/>
            <a:r>
              <a:rPr/>
              <a:t>Structural and parameter uncertainty are visible rather than hidden.</a:t>
            </a:r>
          </a:p>
          <a:p>
            <a:pPr lvl="0" marL="0" indent="0">
              <a:buNone/>
            </a:pPr>
            <a:r>
              <a:rPr b="1"/>
              <a:t>Predictive-control efficacy remains the next research result—not a completed claim.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Selected</a:t>
            </a:r>
            <a:r>
              <a:rPr/>
              <a:t> </a:t>
            </a:r>
            <a:r>
              <a:rPr/>
              <a:t>technical</a:t>
            </a:r>
            <a:r>
              <a:rPr/>
              <a:t> </a:t>
            </a:r>
            <a:r>
              <a:rPr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Preston (1927), empirical pressure–velocity polishing relation</a:t>
            </a:r>
          </a:p>
          <a:p>
            <a:pPr lvl="1"/>
            <a:r>
              <a:rPr/>
              <a:t>White, Melvin &amp; Boning (2003), DOI: 10.1149/1.1560642</a:t>
            </a:r>
          </a:p>
          <a:p>
            <a:pPr lvl="1"/>
            <a:r>
              <a:rPr/>
              <a:t>Kim et al. (2005), DOI: 10.1016/j.mee.2005.07.080</a:t>
            </a:r>
          </a:p>
          <a:p>
            <a:pPr lvl="1"/>
            <a:r>
              <a:rPr/>
              <a:t>Mudhivarthi et al. (2006), DOI: 10.1149/1.2177007</a:t>
            </a:r>
          </a:p>
          <a:p>
            <a:pPr lvl="1"/>
            <a:r>
              <a:rPr/>
              <a:t>Chang et al. (2007), DOI: 10.1016/j.mee.2006.11.011</a:t>
            </a:r>
          </a:p>
          <a:p>
            <a:pPr lvl="1"/>
            <a:r>
              <a:rPr/>
              <a:t>Bahr et al. (2017), DOI: 10.3390/mi8060170</a:t>
            </a:r>
          </a:p>
          <a:p>
            <a:pPr lvl="0" marL="0" indent="0">
              <a:buNone/>
            </a:pPr>
            <a:r>
              <a:rPr/>
              <a:t>Full provenance and claim limitations are recorded in the repository.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Supervisory Control of Semiconductor CMP</dc:title>
  <dc:creator>Semifab CMP Predictive-Control PoC</dc:creator>
  <cp:keywords/>
  <dcterms:created xsi:type="dcterms:W3CDTF">2026-07-12T07:43:39Z</dcterms:created>
  <dcterms:modified xsi:type="dcterms:W3CDTF">2026-07-12T07:43:39Z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olorlinks">
    <vt:lpwstr>True</vt:lpwstr>
  </property>
  <property fmtid="{D5CDD505-2E9C-101B-9397-08002B2CF9AE}" pid="4" name="date">
    <vt:lpwstr>12 July 2026</vt:lpwstr>
  </property>
  <property fmtid="{D5CDD505-2E9C-101B-9397-08002B2CF9AE}" pid="5" name="fontsize">
    <vt:lpwstr>10pt</vt:lpwstr>
  </property>
  <property fmtid="{D5CDD505-2E9C-101B-9397-08002B2CF9AE}" pid="6" name="subtitle">
    <vt:lpwstr>Interim scientific demonstration through WP10</vt:lpwstr>
  </property>
</Properties>
</file>